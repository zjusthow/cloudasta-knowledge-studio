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b404b17079469a" /><Relationship Type="http://schemas.openxmlformats.org/officeDocument/2006/relationships/extended-properties" Target="/docProps/app.xml" Id="R421c6e275126497f" /><Relationship Type="http://schemas.openxmlformats.org/officeDocument/2006/relationships/officeDocument" Target="/ppt/presentation.xml" Id="R9f9d1c83f66d4c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55653527034616"/>
  </p:sldMasterIdLst>
  <p:notesMasterIdLst>
    <p:notesMasterId xmlns:r="http://schemas.openxmlformats.org/officeDocument/2006/relationships" r:id="Rd476c607fe3b4c60"/>
  </p:notesMasterIdLst>
  <p:sldIdLst>
    <p:sldId xmlns:r="http://schemas.openxmlformats.org/officeDocument/2006/relationships" id="256" r:id="R13e674dff8f14eab"/>
    <p:sldId xmlns:r="http://schemas.openxmlformats.org/officeDocument/2006/relationships" id="257" r:id="Rc1587375347e4b77"/>
    <p:sldId xmlns:r="http://schemas.openxmlformats.org/officeDocument/2006/relationships" id="258" r:id="R0e72e4b718b841b0"/>
    <p:sldId xmlns:r="http://schemas.openxmlformats.org/officeDocument/2006/relationships" id="259" r:id="Re05ebf83225c41fe"/>
    <p:sldId xmlns:r="http://schemas.openxmlformats.org/officeDocument/2006/relationships" id="260" r:id="R40ae6b5eb3b04219"/>
    <p:sldId xmlns:r="http://schemas.openxmlformats.org/officeDocument/2006/relationships" id="261" r:id="Ra9c89445755b41c1"/>
    <p:sldId xmlns:r="http://schemas.openxmlformats.org/officeDocument/2006/relationships" id="262" r:id="R4a6655521135427f"/>
    <p:sldId xmlns:r="http://schemas.openxmlformats.org/officeDocument/2006/relationships" id="263" r:id="Rf5b0fad826f44b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4995ac208e4d6e" /><Relationship Type="http://schemas.openxmlformats.org/officeDocument/2006/relationships/slideMaster" Target="/ppt/slideMasters/slideMaster1.xml" Id="R2d55653527034616" /><Relationship Type="http://schemas.openxmlformats.org/officeDocument/2006/relationships/notesMaster" Target="/ppt/notesMasters/notesMaster1.xml" Id="Rd476c607fe3b4c60" /><Relationship Type="http://schemas.openxmlformats.org/officeDocument/2006/relationships/presProps" Target="/ppt/presProps.xml" Id="R0d4fbf56961c4d5a" /><Relationship Type="http://schemas.openxmlformats.org/officeDocument/2006/relationships/tableStyles" Target="/ppt/tableStyles.xml" Id="R7139405387174337" /><Relationship Type="http://schemas.openxmlformats.org/officeDocument/2006/relationships/slide" Target="/ppt/slides/slide1.xml" Id="R13e674dff8f14eab" /><Relationship Type="http://schemas.openxmlformats.org/officeDocument/2006/relationships/slide" Target="/ppt/slides/slide2.xml" Id="Rc1587375347e4b77" /><Relationship Type="http://schemas.openxmlformats.org/officeDocument/2006/relationships/slide" Target="/ppt/slides/slide3.xml" Id="R0e72e4b718b841b0" /><Relationship Type="http://schemas.openxmlformats.org/officeDocument/2006/relationships/slide" Target="/ppt/slides/slide4.xml" Id="Re05ebf83225c41fe" /><Relationship Type="http://schemas.openxmlformats.org/officeDocument/2006/relationships/slide" Target="/ppt/slides/slide5.xml" Id="R40ae6b5eb3b04219" /><Relationship Type="http://schemas.openxmlformats.org/officeDocument/2006/relationships/slide" Target="/ppt/slides/slide6.xml" Id="Ra9c89445755b41c1" /><Relationship Type="http://schemas.openxmlformats.org/officeDocument/2006/relationships/slide" Target="/ppt/slides/slide7.xml" Id="R4a6655521135427f" /><Relationship Type="http://schemas.openxmlformats.org/officeDocument/2006/relationships/slide" Target="/ppt/slides/slide8.xml" Id="Rf5b0fad826f44b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d6265e93f543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1bc8583d2b4396" /><Relationship Type="http://schemas.openxmlformats.org/officeDocument/2006/relationships/notesMaster" Target="/ppt/notesMasters/notesMaster1.xml" Id="R79bcdc86e12d43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392d0810744207" /><Relationship Type="http://schemas.openxmlformats.org/officeDocument/2006/relationships/notesMaster" Target="/ppt/notesMasters/notesMaster1.xml" Id="R1c7e1c92b29644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2c10c37a6b43e3" /><Relationship Type="http://schemas.openxmlformats.org/officeDocument/2006/relationships/notesMaster" Target="/ppt/notesMasters/notesMaster1.xml" Id="Rabdee71882704e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38632b0a5549b2" /><Relationship Type="http://schemas.openxmlformats.org/officeDocument/2006/relationships/notesMaster" Target="/ppt/notesMasters/notesMaster1.xml" Id="Rf74bd116e7c547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c03d843dfc428b" /><Relationship Type="http://schemas.openxmlformats.org/officeDocument/2006/relationships/notesMaster" Target="/ppt/notesMasters/notesMaster1.xml" Id="Rf8696c4a54584c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27834a6aa0475c" /><Relationship Type="http://schemas.openxmlformats.org/officeDocument/2006/relationships/notesMaster" Target="/ppt/notesMasters/notesMaster1.xml" Id="Rd17d59778dcd48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3f2c95a90f54a79" /><Relationship Type="http://schemas.openxmlformats.org/officeDocument/2006/relationships/notesMaster" Target="/ppt/notesMasters/notesMaster1.xml" Id="Rdedbe7d401194a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4fb242480134834" /><Relationship Type="http://schemas.openxmlformats.org/officeDocument/2006/relationships/notesMaster" Target="/ppt/notesMasters/notesMaster1.xml" Id="R918c83498df641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Fictional customer proposal. This presentation is not an executed order.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Acme Field Services wants a managed migration with clear responsibilities. Discovery must confirm mailbox sizes, archive constraints and the customer administrator roster.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Migrate 100 mailboxes to the new workspace tenant. The scope includes administrator training and launch coordination. Training covers routine administration and the support escalation route.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Excluded: device replacement, historical archive remediation and custom application work. Validate shared mailbox ownership and data handling before the pilot.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migration delivery window: six weeks after kickoff. Proposal is not a signed contract. Timing depends on verified access, customer approvals and a successful pilot. The delivery lead confirms actual dates after discovery.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Alex Rivera owns delivery readiness. The customer administrator owns access approvals. Customer Success records acceptance and unresolved items with named owners. Do not promise a cutover date before the go/no-go gate.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Estimated migration services: USD 12000. Final commitments require approval. The estimate excludes recurring subscription charges, taxes, archive remediation and unscoped integrations. Quote validity: 30 calendar days. No accelerated-delivery surcharge has been approved.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Commercial owner: Casey Brooks. Delivery owner: Alex Rivera. Customer Success: Riley Foster. The current customer subscription exception remains separate from these project fees. Store the approved proposal and executed order together.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cf0b238cf348e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c86993dc3441e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d2c6954466489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d3f62e87814ce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76586267ad453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d22d0930c34a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15932A-36D4-4BA2-BFF1-3900AE299B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5B722C1-E5B9-40B1-8BA3-5AAEB49A7B4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E8D3A00-403B-4880-AEDC-2798F0FDA7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ABE681-790D-4B23-A735-9C9B4B4685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5D29CEC-AE25-4653-8648-834E8582B4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524E1AD-CD34-4435-B9E7-EFC1C2BFBF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F989AC3-F85E-4EAC-A19E-0F3113116C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E23D429-8C0A-4687-A1BF-A54030DB8EE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2A8C25-4ED1-40FF-86B4-BD1A346703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4D57ACC-021F-4AB5-8EE7-E4C366CCFF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d21abf1a154889" /><Relationship Type="http://schemas.openxmlformats.org/officeDocument/2006/relationships/slideLayout" Target="/ppt/slideLayouts/slideLayout1.xml" Id="R86b16158ef2040bf" /><Relationship Type="http://schemas.openxmlformats.org/officeDocument/2006/relationships/slideLayout" Target="/ppt/slideLayouts/slideLayout2.xml" Id="Rc63329c37e5c4d98" /><Relationship Type="http://schemas.openxmlformats.org/officeDocument/2006/relationships/slideLayout" Target="/ppt/slideLayouts/slideLayout3.xml" Id="R8d7440a135e446a8" /><Relationship Type="http://schemas.openxmlformats.org/officeDocument/2006/relationships/slideLayout" Target="/ppt/slideLayouts/slideLayout4.xml" Id="R2ab1b5b6d03c4e16" /><Relationship Type="http://schemas.openxmlformats.org/officeDocument/2006/relationships/slideLayout" Target="/ppt/slideLayouts/slideLayout5.xml" Id="Rccc8ab3b3b2244cf" /><Relationship Type="http://schemas.openxmlformats.org/officeDocument/2006/relationships/slideLayout" Target="/ppt/slideLayouts/slideLayout6.xml" Id="Rf7b83845ec144e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b16158ef2040bf"/>
    <p:sldLayoutId xmlns:r="http://schemas.openxmlformats.org/officeDocument/2006/relationships" id="2147483650" r:id="Rc63329c37e5c4d98"/>
    <p:sldLayoutId xmlns:r="http://schemas.openxmlformats.org/officeDocument/2006/relationships" id="2147483651" r:id="R8d7440a135e446a8"/>
    <p:sldLayoutId xmlns:r="http://schemas.openxmlformats.org/officeDocument/2006/relationships" id="2147483652" r:id="R2ab1b5b6d03c4e16"/>
    <p:sldLayoutId xmlns:r="http://schemas.openxmlformats.org/officeDocument/2006/relationships" id="2147483653" r:id="Rccc8ab3b3b2244cf"/>
    <p:sldLayoutId xmlns:r="http://schemas.openxmlformats.org/officeDocument/2006/relationships" id="2147483654" r:id="Rf7b83845ec144e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8de967f1cf480d" /><Relationship Type="http://schemas.openxmlformats.org/officeDocument/2006/relationships/notesSlide" Target="/ppt/notesSlides/notesSlide1.xml" Id="R2565a2dab1b248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8f2b6e7b6c43db" /><Relationship Type="http://schemas.openxmlformats.org/officeDocument/2006/relationships/notesSlide" Target="/ppt/notesSlides/notesSlide2.xml" Id="Rd194c6d0decc4a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74b6907d904d35" /><Relationship Type="http://schemas.openxmlformats.org/officeDocument/2006/relationships/notesSlide" Target="/ppt/notesSlides/notesSlide3.xml" Id="R0328d700cea84c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6ce3f4a8e348f3" /><Relationship Type="http://schemas.openxmlformats.org/officeDocument/2006/relationships/notesSlide" Target="/ppt/notesSlides/notesSlide4.xml" Id="Rf9f49ad6a3ba4f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a6d86228324a23" /><Relationship Type="http://schemas.openxmlformats.org/officeDocument/2006/relationships/notesSlide" Target="/ppt/notesSlides/notesSlide5.xml" Id="R71e4d483ef2b47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6e3b14de0b4ef4" /><Relationship Type="http://schemas.openxmlformats.org/officeDocument/2006/relationships/notesSlide" Target="/ppt/notesSlides/notesSlide6.xml" Id="Rb7185eea9a7342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3a532de56647e1" /><Relationship Type="http://schemas.openxmlformats.org/officeDocument/2006/relationships/notesSlide" Target="/ppt/notesSlides/notesSlide7.xml" Id="R7340eacb860d43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54a04ec73e4c5b" /><Relationship Type="http://schemas.openxmlformats.org/officeDocument/2006/relationships/notesSlide" Target="/ppt/notesSlides/notesSlide8.xml" Id="R02fe6f79c6344a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F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323005-7089-425E-A6F5-C61860EA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B8CD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B8CDD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CDD7"/>
                </a:solidFill>
                <a:latin typeface="Arial"/>
                <a:ea typeface="Arial"/>
                <a:cs typeface="Arial"/>
              </a:rPr>
              <a:t>CLOUDASTA  /  ACME CUSTOMER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8FD039-7AF1-4E40-8851-B2C1BE80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Acme Field Services</a:t>
            </a:r>
          </a:p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Workspace migration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C8D959-51D2-4B3E-9E75-919590F3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104298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E0EA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0EA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0EAF0"/>
                </a:solidFill>
                <a:latin typeface="Arial"/>
                <a:ea typeface="Arial"/>
                <a:cs typeface="Arial"/>
              </a:rPr>
              <a:t>Migration and administrator enablement</a:t>
            </a:r>
          </a:p>
          <a:p xmlns:a="http://schemas.openxmlformats.org/drawingml/2006/main">
            <a:pPr>
              <a:defRPr sz="2100" b="0">
                <a:solidFill>
                  <a:srgbClr val="E0EA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0EAF0"/>
                </a:solidFill>
                <a:latin typeface="Arial"/>
                <a:ea typeface="Arial"/>
                <a:cs typeface="Arial"/>
              </a:rPr>
              <a:t>Revision 1.0 · For discussion</a:t>
            </a:r>
          </a:p>
          <a:p xmlns:a="http://schemas.openxmlformats.org/drawingml/2006/main">
            <a:pPr>
              <a:defRPr sz="2100" b="0">
                <a:solidFill>
                  <a:srgbClr val="E0EA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0EAF0"/>
                </a:solidFill>
                <a:latin typeface="Arial"/>
                <a:ea typeface="Arial"/>
                <a:cs typeface="Arial"/>
              </a:rPr>
              <a:t>Prepared by Cloudasta Delivery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5ECB18-B243-442D-8462-B7A7A86A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B8CD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B8CDD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8CDD7"/>
                </a:solidFill>
                <a:latin typeface="Arial"/>
                <a:ea typeface="Arial"/>
                <a:cs typeface="Arial"/>
              </a:rPr>
              <a:t>FICTIONAL DEMONSTRATION  ·  2026-04-10  ·  FOR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32CAD-8DB2-4318-946F-E5F274CF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268781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9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63CECC-B7F3-4EBC-A1E9-CB693FCD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971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9717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717E"/>
                </a:solidFill>
                <a:latin typeface="Arial"/>
                <a:ea typeface="Arial"/>
                <a:cs typeface="Arial"/>
              </a:rPr>
              <a:t>CLOUDASTA  /  ACME CUSTOMER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CE5495-A648-472F-95F0-2BAFF5F6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F42"/>
                </a:solidFill>
                <a:latin typeface="Arial"/>
                <a:ea typeface="Arial"/>
                <a:cs typeface="Arial"/>
              </a:rPr>
              <a:t>Operating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55A9DD-8761-4846-90B9-0D29086F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04298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100 mailboxes across a single source tenant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Shared mailboxes require nominated owners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Customer retains control of domain and identity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Target: predictable cutover with reconciled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3682F-43FF-4752-9A46-6261B22F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97D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D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D86"/>
                </a:solidFill>
                <a:latin typeface="Arial"/>
                <a:ea typeface="Arial"/>
                <a:cs typeface="Arial"/>
              </a:rPr>
              <a:t>FICTIONAL DEMONSTRATION  ·  2026-04-10  ·  FOR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D1D1F1-C177-4A22-9E61-6B36268E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190898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9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6FE7A7-5BE6-4585-ABF0-8933FFFA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971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9717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717E"/>
                </a:solidFill>
                <a:latin typeface="Arial"/>
                <a:ea typeface="Arial"/>
                <a:cs typeface="Arial"/>
              </a:rPr>
              <a:t>CLOUDASTA  /  ACME CUSTOMER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005BE2-5285-49D8-87E1-27B23239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F42"/>
                </a:solidFill>
                <a:latin typeface="Arial"/>
                <a:ea typeface="Arial"/>
                <a:cs typeface="Arial"/>
              </a:rPr>
              <a:t>Included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344EA0-D641-44DA-9D32-E7074A3B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04298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Discovery workshop and migration plan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One pilot batch and one production cutover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Administrator training and launch coordination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Five working days of migration defect support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B3556F-3BDF-44D0-999B-970F8DFA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97D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D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D86"/>
                </a:solidFill>
                <a:latin typeface="Arial"/>
                <a:ea typeface="Arial"/>
                <a:cs typeface="Arial"/>
              </a:rPr>
              <a:t>FICTIONAL DEMONSTRATION  ·  2026-04-10  ·  FOR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70D62-48C2-4036-A24F-E8F43D4D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745282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9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04DB3F-DDBB-448A-880C-A6290A1F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971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9717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717E"/>
                </a:solidFill>
                <a:latin typeface="Arial"/>
                <a:ea typeface="Arial"/>
                <a:cs typeface="Arial"/>
              </a:rPr>
              <a:t>CLOUDASTA  /  ACME CUSTOMER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A78703-0FFA-4BD0-9289-C032FF01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F42"/>
                </a:solidFill>
                <a:latin typeface="Arial"/>
                <a:ea typeface="Arial"/>
                <a:cs typeface="Arial"/>
              </a:rPr>
              <a:t>Scope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829847-038B-4B6D-88B1-399A0111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04298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Customer owns device and network readiness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Archive export is subject to vendor access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Custom integrations require a change request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No change to contracted incident coverage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C0DE6A-8842-4DE0-9195-A781B891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97D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D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D86"/>
                </a:solidFill>
                <a:latin typeface="Arial"/>
                <a:ea typeface="Arial"/>
                <a:cs typeface="Arial"/>
              </a:rPr>
              <a:t>FICTIONAL DEMONSTRATION  ·  2026-04-10  ·  FOR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285DFC-3549-4C00-A60A-86DF6DAE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42764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9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5E152C-EB0D-4FC2-B1DC-B0042970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971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9717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717E"/>
                </a:solidFill>
                <a:latin typeface="Arial"/>
                <a:ea typeface="Arial"/>
                <a:cs typeface="Arial"/>
              </a:rPr>
              <a:t>CLOUDASTA  /  ACME CUSTOMER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1CCF43-0FFB-4CC3-9504-BC8C1064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F42"/>
                </a:solidFill>
                <a:latin typeface="Arial"/>
                <a:ea typeface="Arial"/>
                <a:cs typeface="Arial"/>
              </a:rPr>
              <a:t>Proposed six-week delivery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372E04-8A11-4E7B-9E11-D7D24AFF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04298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Weeks 1–2: discovery and remediation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Week 3: pilot and reconciliation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Week 4: readiness and training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Weeks 5–6: cutover and acceptance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AD652A-375D-4150-96A1-700B6B66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97D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D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D86"/>
                </a:solidFill>
                <a:latin typeface="Arial"/>
                <a:ea typeface="Arial"/>
                <a:cs typeface="Arial"/>
              </a:rPr>
              <a:t>FICTIONAL DEMONSTRATION  ·  2026-04-10  ·  FOR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E88E0A-FFB8-4C4F-BD13-E7942154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912867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9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3FC771-B78E-439E-8EFC-F8CCFD37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971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9717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717E"/>
                </a:solidFill>
                <a:latin typeface="Arial"/>
                <a:ea typeface="Arial"/>
                <a:cs typeface="Arial"/>
              </a:rPr>
              <a:t>CLOUDASTA  /  ACME CUSTOMER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1133A-8239-4B86-A549-238284B2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F42"/>
                </a:solidFill>
                <a:latin typeface="Arial"/>
                <a:ea typeface="Arial"/>
                <a:cs typeface="Arial"/>
              </a:rPr>
              <a:t>Readiness and acceptance 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3F5692-1143-4255-982B-44F88810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04298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Approved migration identity and data handling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Complete mailbox and resource-owner roster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Pilot reconciled before production go/no-go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Acceptance pack signed or exceptions assigned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A96600-9B39-41DF-BA7A-519AA18D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97D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D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D86"/>
                </a:solidFill>
                <a:latin typeface="Arial"/>
                <a:ea typeface="Arial"/>
                <a:cs typeface="Arial"/>
              </a:rPr>
              <a:t>FICTIONAL DEMONSTRATION  ·  2026-04-10  ·  FOR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F9030E-3D41-412E-BE23-651470FB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9582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9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9C9D35-DA26-45F7-ABE6-252404A0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971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9717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717E"/>
                </a:solidFill>
                <a:latin typeface="Arial"/>
                <a:ea typeface="Arial"/>
                <a:cs typeface="Arial"/>
              </a:rPr>
              <a:t>CLOUDASTA  /  ACME CUSTOMER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F422D2-D2D0-4E27-87CD-6E3E67A9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F42"/>
                </a:solidFill>
                <a:latin typeface="Arial"/>
                <a:ea typeface="Arial"/>
                <a:cs typeface="Arial"/>
              </a:rPr>
              <a:t>Services estimate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51B14E-F164-485D-B7C5-53CFC37F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04298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Migration services: USD 12,000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One implementation engagement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50% at execution, 50% at acceptance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Subscription fees and taxes excluded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8E329-898E-408E-A1F9-70A0A543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97D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D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D86"/>
                </a:solidFill>
                <a:latin typeface="Arial"/>
                <a:ea typeface="Arial"/>
                <a:cs typeface="Arial"/>
              </a:rPr>
              <a:t>FICTIONAL DEMONSTRATION  ·  2026-04-10  ·  FOR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32A955-8FC3-459B-AB04-11B7848C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593869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9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3485AA-2B65-4BE0-9D33-6051F503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971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9717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717E"/>
                </a:solidFill>
                <a:latin typeface="Arial"/>
                <a:ea typeface="Arial"/>
                <a:cs typeface="Arial"/>
              </a:rPr>
              <a:t>CLOUDASTA  /  ACME CUSTOMER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A26E17-B2E8-4D37-B7C0-61747C3A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F42"/>
                </a:solidFill>
                <a:latin typeface="Arial"/>
                <a:ea typeface="Arial"/>
                <a:cs typeface="Arial"/>
              </a:rPr>
              <a:t>Next steps and approvals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5A6527-603C-4645-872D-1F79C236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04298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Customer confirms inventory and blackout dates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Delivery validates the proposed window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Finance approves the final quote revision</a:t>
            </a:r>
          </a:p>
          <a:p xmlns:a="http://schemas.openxmlformats.org/drawingml/2006/main">
            <a:pPr>
              <a:defRPr sz="2325" b="0">
                <a:solidFill>
                  <a:srgbClr val="344B5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B58"/>
                </a:solidFill>
                <a:latin typeface="Arial"/>
                <a:ea typeface="Arial"/>
                <a:cs typeface="Arial"/>
              </a:rPr>
              <a:t>Both parties execute the order before work starts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FF2E04-C3EE-484A-9F96-142E3B9E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97D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97D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D86"/>
                </a:solidFill>
                <a:latin typeface="Arial"/>
                <a:ea typeface="Arial"/>
                <a:cs typeface="Arial"/>
              </a:rPr>
              <a:t>FICTIONAL DEMONSTRATION  ·  2026-04-10  ·  FOR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7B4C92-8FF5-4B81-9343-A53983A2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F4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689260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2026-10-12T01:16:59.1030000Z</dcterms:created>
  <dcterms:modified xsi:type="dcterms:W3CDTF">2026-10-12T01:16:59.1030000Z</dcterms:modified>
</coreProperties>
</file>